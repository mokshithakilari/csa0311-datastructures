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9" r:id="rId3"/>
    <p:sldId id="270" r:id="rId4"/>
    <p:sldId id="271" r:id="rId5"/>
    <p:sldId id="272" r:id="rId6"/>
    <p:sldId id="273" r:id="rId7"/>
    <p:sldId id="274" r:id="rId8"/>
    <p:sldId id="275" r:id="rId9"/>
    <p:sldId id="276" r:id="rId10"/>
    <p:sldId id="277" r:id="rId11"/>
    <p:sldId id="278" r:id="rId12"/>
    <p:sldId id="279"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6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72" autoAdjust="0"/>
    <p:restoredTop sz="94660"/>
  </p:normalViewPr>
  <p:slideViewPr>
    <p:cSldViewPr snapToGrid="0">
      <p:cViewPr varScale="1">
        <p:scale>
          <a:sx n="88" d="100"/>
          <a:sy n="88" d="100"/>
        </p:scale>
        <p:origin x="10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3"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4"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5"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6"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7"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8"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7"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1048618"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48619" name="Date Placeholder 3"/>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20" name="Footer Placeholder 4"/>
          <p:cNvSpPr>
            <a:spLocks noGrp="1"/>
          </p:cNvSpPr>
          <p:nvPr>
            <p:ph type="ftr" sz="quarter" idx="11"/>
          </p:nvPr>
        </p:nvSpPr>
        <p:spPr/>
        <p:txBody>
          <a:bodyPr/>
          <a:lstStyle/>
          <a:p>
            <a:endParaRPr lang="en-IN"/>
          </a:p>
        </p:txBody>
      </p:sp>
      <p:sp>
        <p:nvSpPr>
          <p:cNvPr id="1048621" name="Slide Number Placeholder 5"/>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6" name="Title 1"/>
          <p:cNvSpPr>
            <a:spLocks noGrp="1"/>
          </p:cNvSpPr>
          <p:nvPr>
            <p:ph type="title"/>
          </p:nvPr>
        </p:nvSpPr>
        <p:spPr/>
        <p:txBody>
          <a:bodyPr/>
          <a:lstStyle/>
          <a:p>
            <a:r>
              <a:rPr lang="en-US"/>
              <a:t>Click to edit Master title style</a:t>
            </a:r>
            <a:endParaRPr lang="en-US" dirty="0"/>
          </a:p>
        </p:txBody>
      </p:sp>
      <p:sp>
        <p:nvSpPr>
          <p:cNvPr id="1048587"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88" name="Date Placeholder 3"/>
          <p:cNvSpPr>
            <a:spLocks noGrp="1"/>
          </p:cNvSpPr>
          <p:nvPr>
            <p:ph type="dt" sz="half" idx="10"/>
          </p:nvPr>
        </p:nvSpPr>
        <p:spPr/>
        <p:txBody>
          <a:bodyPr/>
          <a:lstStyle/>
          <a:p>
            <a:fld id="{511FC50B-D418-4102-BAE0-7A0507B858B8}" type="datetimeFigureOut">
              <a:rPr lang="en-IN" smtClean="0"/>
              <a:t>27-07-2026</a:t>
            </a:fld>
            <a:endParaRPr lang="en-IN"/>
          </a:p>
        </p:txBody>
      </p:sp>
      <p:sp>
        <p:nvSpPr>
          <p:cNvPr id="1048589" name="Footer Placeholder 4"/>
          <p:cNvSpPr>
            <a:spLocks noGrp="1"/>
          </p:cNvSpPr>
          <p:nvPr>
            <p:ph type="ftr" sz="quarter" idx="11"/>
          </p:nvPr>
        </p:nvSpPr>
        <p:spPr/>
        <p:txBody>
          <a:bodyPr/>
          <a:lstStyle/>
          <a:p>
            <a:endParaRPr lang="en-IN"/>
          </a:p>
        </p:txBody>
      </p:sp>
      <p:sp>
        <p:nvSpPr>
          <p:cNvPr id="1048590" name="Slide Number Placeholder 5"/>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8"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1048639"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40" name="Date Placeholder 3"/>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41" name="Footer Placeholder 4"/>
          <p:cNvSpPr>
            <a:spLocks noGrp="1"/>
          </p:cNvSpPr>
          <p:nvPr>
            <p:ph type="ftr" sz="quarter" idx="11"/>
          </p:nvPr>
        </p:nvSpPr>
        <p:spPr/>
        <p:txBody>
          <a:bodyPr/>
          <a:lstStyle/>
          <a:p>
            <a:endParaRPr lang="en-IN"/>
          </a:p>
        </p:txBody>
      </p:sp>
      <p:sp>
        <p:nvSpPr>
          <p:cNvPr id="1048642" name="Slide Number Placeholder 5"/>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43" name="Title 1"/>
          <p:cNvSpPr>
            <a:spLocks noGrp="1"/>
          </p:cNvSpPr>
          <p:nvPr>
            <p:ph type="title"/>
          </p:nvPr>
        </p:nvSpPr>
        <p:spPr/>
        <p:txBody>
          <a:bodyPr/>
          <a:lstStyle/>
          <a:p>
            <a:r>
              <a:rPr lang="en-US"/>
              <a:t>Click to edit Master title style</a:t>
            </a:r>
            <a:endParaRPr lang="en-US" dirty="0"/>
          </a:p>
        </p:txBody>
      </p:sp>
      <p:sp>
        <p:nvSpPr>
          <p:cNvPr id="1048644"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45"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46" name="Date Placeholder 4"/>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47" name="Footer Placeholder 5"/>
          <p:cNvSpPr>
            <a:spLocks noGrp="1"/>
          </p:cNvSpPr>
          <p:nvPr>
            <p:ph type="ftr" sz="quarter" idx="11"/>
          </p:nvPr>
        </p:nvSpPr>
        <p:spPr/>
        <p:txBody>
          <a:bodyPr/>
          <a:lstStyle/>
          <a:p>
            <a:endParaRPr lang="en-IN"/>
          </a:p>
        </p:txBody>
      </p:sp>
      <p:sp>
        <p:nvSpPr>
          <p:cNvPr id="1048648" name="Slide Number Placeholder 6"/>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9"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1048650"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1"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52"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3"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54" name="Date Placeholder 6"/>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55" name="Footer Placeholder 7"/>
          <p:cNvSpPr>
            <a:spLocks noGrp="1"/>
          </p:cNvSpPr>
          <p:nvPr>
            <p:ph type="ftr" sz="quarter" idx="11"/>
          </p:nvPr>
        </p:nvSpPr>
        <p:spPr/>
        <p:txBody>
          <a:bodyPr/>
          <a:lstStyle/>
          <a:p>
            <a:endParaRPr lang="en-IN"/>
          </a:p>
        </p:txBody>
      </p:sp>
      <p:sp>
        <p:nvSpPr>
          <p:cNvPr id="1048656" name="Slide Number Placeholder 8"/>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99" name="Title 1"/>
          <p:cNvSpPr>
            <a:spLocks noGrp="1"/>
          </p:cNvSpPr>
          <p:nvPr>
            <p:ph type="title"/>
          </p:nvPr>
        </p:nvSpPr>
        <p:spPr/>
        <p:txBody>
          <a:bodyPr/>
          <a:lstStyle/>
          <a:p>
            <a:r>
              <a:rPr lang="en-US"/>
              <a:t>Click to edit Master title style</a:t>
            </a:r>
            <a:endParaRPr lang="en-US" dirty="0"/>
          </a:p>
        </p:txBody>
      </p:sp>
      <p:sp>
        <p:nvSpPr>
          <p:cNvPr id="1048600" name="Date Placeholder 2"/>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01" name="Footer Placeholder 3"/>
          <p:cNvSpPr>
            <a:spLocks noGrp="1"/>
          </p:cNvSpPr>
          <p:nvPr>
            <p:ph type="ftr" sz="quarter" idx="11"/>
          </p:nvPr>
        </p:nvSpPr>
        <p:spPr/>
        <p:txBody>
          <a:bodyPr/>
          <a:lstStyle/>
          <a:p>
            <a:endParaRPr lang="en-IN"/>
          </a:p>
        </p:txBody>
      </p:sp>
      <p:sp>
        <p:nvSpPr>
          <p:cNvPr id="1048602" name="Slide Number Placeholder 4"/>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511FC50B-D418-4102-BAE0-7A0507B858B8}" type="datetimeFigureOut">
              <a:rPr lang="en-IN" smtClean="0"/>
              <a:t>27-07-2026</a:t>
            </a:fld>
            <a:endParaRPr lang="en-IN"/>
          </a:p>
        </p:txBody>
      </p:sp>
      <p:sp>
        <p:nvSpPr>
          <p:cNvPr id="1048582" name="Footer Placeholder 2"/>
          <p:cNvSpPr>
            <a:spLocks noGrp="1"/>
          </p:cNvSpPr>
          <p:nvPr>
            <p:ph type="ftr" sz="quarter" idx="11"/>
          </p:nvPr>
        </p:nvSpPr>
        <p:spPr/>
        <p:txBody>
          <a:bodyPr/>
          <a:lstStyle/>
          <a:p>
            <a:endParaRPr lang="en-IN"/>
          </a:p>
        </p:txBody>
      </p:sp>
      <p:sp>
        <p:nvSpPr>
          <p:cNvPr id="1048583" name="Slide Number Placeholder 3"/>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1048658"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59"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60" name="Date Placeholder 4"/>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61" name="Footer Placeholder 5"/>
          <p:cNvSpPr>
            <a:spLocks noGrp="1"/>
          </p:cNvSpPr>
          <p:nvPr>
            <p:ph type="ftr" sz="quarter" idx="11"/>
          </p:nvPr>
        </p:nvSpPr>
        <p:spPr/>
        <p:txBody>
          <a:bodyPr/>
          <a:lstStyle/>
          <a:p>
            <a:endParaRPr lang="en-IN"/>
          </a:p>
        </p:txBody>
      </p:sp>
      <p:sp>
        <p:nvSpPr>
          <p:cNvPr id="1048662" name="Slide Number Placeholder 6"/>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1048628"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629"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30" name="Date Placeholder 4"/>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31" name="Footer Placeholder 5"/>
          <p:cNvSpPr>
            <a:spLocks noGrp="1"/>
          </p:cNvSpPr>
          <p:nvPr>
            <p:ph type="ftr" sz="quarter" idx="11"/>
          </p:nvPr>
        </p:nvSpPr>
        <p:spPr/>
        <p:txBody>
          <a:bodyPr/>
          <a:lstStyle/>
          <a:p>
            <a:endParaRPr lang="en-IN"/>
          </a:p>
        </p:txBody>
      </p:sp>
      <p:sp>
        <p:nvSpPr>
          <p:cNvPr id="1048632" name="Slide Number Placeholder 6"/>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US"/>
              <a:t>Click to edit Master title style</a:t>
            </a:r>
            <a:endParaRPr lang="en-US" dirty="0"/>
          </a:p>
        </p:txBody>
      </p:sp>
      <p:sp>
        <p:nvSpPr>
          <p:cNvPr id="1048634"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35" name="Date Placeholder 3"/>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36" name="Footer Placeholder 4"/>
          <p:cNvSpPr>
            <a:spLocks noGrp="1"/>
          </p:cNvSpPr>
          <p:nvPr>
            <p:ph type="ftr" sz="quarter" idx="11"/>
          </p:nvPr>
        </p:nvSpPr>
        <p:spPr/>
        <p:txBody>
          <a:bodyPr/>
          <a:lstStyle/>
          <a:p>
            <a:endParaRPr lang="en-IN"/>
          </a:p>
        </p:txBody>
      </p:sp>
      <p:sp>
        <p:nvSpPr>
          <p:cNvPr id="1048637" name="Slide Number Placeholder 5"/>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104862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24" name="Date Placeholder 3"/>
          <p:cNvSpPr>
            <a:spLocks noGrp="1"/>
          </p:cNvSpPr>
          <p:nvPr>
            <p:ph type="dt" sz="half" idx="10"/>
          </p:nvPr>
        </p:nvSpPr>
        <p:spPr/>
        <p:txBody>
          <a:bodyPr/>
          <a:lstStyle/>
          <a:p>
            <a:fld id="{511FC50B-D418-4102-BAE0-7A0507B858B8}" type="datetimeFigureOut">
              <a:rPr lang="en-IN" smtClean="0"/>
              <a:t>27-07-2026</a:t>
            </a:fld>
            <a:endParaRPr lang="en-IN"/>
          </a:p>
        </p:txBody>
      </p:sp>
      <p:sp>
        <p:nvSpPr>
          <p:cNvPr id="1048625" name="Footer Placeholder 4"/>
          <p:cNvSpPr>
            <a:spLocks noGrp="1"/>
          </p:cNvSpPr>
          <p:nvPr>
            <p:ph type="ftr" sz="quarter" idx="11"/>
          </p:nvPr>
        </p:nvSpPr>
        <p:spPr/>
        <p:txBody>
          <a:bodyPr/>
          <a:lstStyle/>
          <a:p>
            <a:endParaRPr lang="en-IN"/>
          </a:p>
        </p:txBody>
      </p:sp>
      <p:sp>
        <p:nvSpPr>
          <p:cNvPr id="1048626" name="Slide Number Placeholder 5"/>
          <p:cNvSpPr>
            <a:spLocks noGrp="1"/>
          </p:cNvSpPr>
          <p:nvPr>
            <p:ph type="sldNum" sz="quarter" idx="12"/>
          </p:nvPr>
        </p:nvSpPr>
        <p:spPr/>
        <p:txBody>
          <a:bodyPr/>
          <a:lstStyle/>
          <a:p>
            <a:fld id="{71BD54F1-F454-4EBE-8BDA-0F079033CF9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1FC50B-D418-4102-BAE0-7A0507B858B8}" type="datetimeFigureOut">
              <a:rPr lang="en-IN" smtClean="0"/>
              <a:t>27-07-2026</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BD54F1-F454-4EBE-8BDA-0F079033CF9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1"/>
          <p:cNvPicPr>
            <a:picLocks noChangeAspect="1"/>
          </p:cNvPicPr>
          <p:nvPr/>
        </p:nvPicPr>
        <p:blipFill>
          <a:blip r:embed="rId2"/>
          <a:stretch>
            <a:fillRect/>
          </a:stretch>
        </p:blipFill>
        <p:spPr>
          <a:xfrm>
            <a:off x="870857" y="217715"/>
            <a:ext cx="10075817" cy="1130956"/>
          </a:xfrm>
          <a:prstGeom prst="rect">
            <a:avLst/>
          </a:prstGeom>
        </p:spPr>
      </p:pic>
      <p:sp>
        <p:nvSpPr>
          <p:cNvPr id="1048584" name="TextBox 5"/>
          <p:cNvSpPr txBox="1"/>
          <p:nvPr/>
        </p:nvSpPr>
        <p:spPr>
          <a:xfrm>
            <a:off x="1" y="920621"/>
            <a:ext cx="12095544" cy="5570756"/>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   </a:t>
            </a:r>
          </a:p>
          <a:p>
            <a:pPr algn="ctr"/>
            <a:r>
              <a:rPr lang="en-IN" sz="3200" b="1" dirty="0">
                <a:latin typeface="Times New Roman" panose="02020603050405020304" pitchFamily="18" charset="0"/>
                <a:cs typeface="Times New Roman" panose="02020603050405020304" pitchFamily="18" charset="0"/>
              </a:rPr>
              <a:t>               </a:t>
            </a:r>
          </a:p>
          <a:p>
            <a:pPr algn="ctr"/>
            <a:endParaRPr lang="en-IN" sz="3200" b="1" dirty="0">
              <a:latin typeface="Times New Roman" panose="02020603050405020304" pitchFamily="18" charset="0"/>
              <a:cs typeface="Times New Roman" panose="02020603050405020304" pitchFamily="18" charset="0"/>
            </a:endParaRPr>
          </a:p>
          <a:p>
            <a:pPr algn="ctr"/>
            <a:r>
              <a:rPr lang="fr-FR" sz="4000" b="1" dirty="0" err="1">
                <a:latin typeface="Times New Roman" panose="02020603050405020304" pitchFamily="18" charset="0"/>
                <a:cs typeface="Times New Roman" panose="02020603050405020304" pitchFamily="18" charset="0"/>
              </a:rPr>
              <a:t>Hospital</a:t>
            </a:r>
            <a:r>
              <a:rPr lang="fr-FR" sz="4000" b="1" dirty="0">
                <a:latin typeface="Times New Roman" panose="02020603050405020304" pitchFamily="18" charset="0"/>
                <a:cs typeface="Times New Roman" panose="02020603050405020304" pitchFamily="18" charset="0"/>
              </a:rPr>
              <a:t> Patient Queue Management System</a:t>
            </a:r>
          </a:p>
          <a:p>
            <a:pPr algn="ctr"/>
            <a:r>
              <a:rPr lang="en-IN" sz="2000" b="1" dirty="0">
                <a:latin typeface="Times New Roman" panose="02020603050405020304" pitchFamily="18" charset="0"/>
                <a:cs typeface="Times New Roman" panose="02020603050405020304" pitchFamily="18" charset="0"/>
              </a:rPr>
              <a:t>CSA0311- Data Structures</a:t>
            </a:r>
          </a:p>
          <a:p>
            <a:pPr algn="ctr"/>
            <a:endParaRPr lang="en-IN" sz="4000" b="1" dirty="0">
              <a:latin typeface="Times New Roman" panose="02020603050405020304" pitchFamily="18" charset="0"/>
              <a:cs typeface="Times New Roman" panose="02020603050405020304" pitchFamily="18" charset="0"/>
            </a:endParaRPr>
          </a:p>
          <a:p>
            <a:pPr algn="ctr"/>
            <a:r>
              <a:rPr lang="en-IN" sz="3200" b="1" dirty="0">
                <a:latin typeface="Times New Roman" panose="02020603050405020304" pitchFamily="18" charset="0"/>
                <a:cs typeface="Times New Roman" panose="02020603050405020304" pitchFamily="18" charset="0"/>
              </a:rPr>
              <a:t> </a:t>
            </a:r>
          </a:p>
          <a:p>
            <a:pPr algn="ctr"/>
            <a:endParaRPr lang="en-IN" sz="3200" b="1" dirty="0">
              <a:latin typeface="Times New Roman" panose="02020603050405020304" pitchFamily="18" charset="0"/>
              <a:cs typeface="Times New Roman" panose="02020603050405020304" pitchFamily="18" charset="0"/>
            </a:endParaRPr>
          </a:p>
          <a:p>
            <a:pPr algn="ctr"/>
            <a:endParaRPr lang="en-IN" sz="3200" b="1" dirty="0">
              <a:latin typeface="Times New Roman" panose="02020603050405020304" pitchFamily="18" charset="0"/>
              <a:cs typeface="Times New Roman" panose="02020603050405020304" pitchFamily="18" charset="0"/>
            </a:endParaRPr>
          </a:p>
          <a:p>
            <a:pPr algn="ctr"/>
            <a:r>
              <a:rPr lang="en-IN" sz="3200" b="1" dirty="0">
                <a:latin typeface="Times New Roman" panose="02020603050405020304" pitchFamily="18" charset="0"/>
                <a:cs typeface="Times New Roman" panose="02020603050405020304" pitchFamily="18" charset="0"/>
              </a:rPr>
              <a:t>                   </a:t>
            </a:r>
          </a:p>
          <a:p>
            <a:pPr algn="ctr"/>
            <a:r>
              <a:rPr lang="en-IN" sz="3200" b="1" dirty="0">
                <a:latin typeface="Times New Roman" panose="02020603050405020304" pitchFamily="18" charset="0"/>
                <a:cs typeface="Times New Roman" panose="02020603050405020304" pitchFamily="18" charset="0"/>
              </a:rPr>
              <a:t>      </a:t>
            </a:r>
          </a:p>
        </p:txBody>
      </p:sp>
      <p:sp>
        <p:nvSpPr>
          <p:cNvPr id="2" name="TextBox 1">
            <a:extLst>
              <a:ext uri="{FF2B5EF4-FFF2-40B4-BE49-F238E27FC236}">
                <a16:creationId xmlns:a16="http://schemas.microsoft.com/office/drawing/2014/main" id="{A0ECD410-C5A5-BAE5-E8BD-D1989EF615A9}"/>
              </a:ext>
            </a:extLst>
          </p:cNvPr>
          <p:cNvSpPr txBox="1"/>
          <p:nvPr/>
        </p:nvSpPr>
        <p:spPr>
          <a:xfrm>
            <a:off x="8129727" y="5081286"/>
            <a:ext cx="3866606" cy="923330"/>
          </a:xfrm>
          <a:prstGeom prst="rect">
            <a:avLst/>
          </a:prstGeom>
          <a:noFill/>
        </p:spPr>
        <p:txBody>
          <a:bodyPr wrap="square" rtlCol="0">
            <a:spAutoFit/>
          </a:bodyPr>
          <a:lstStyle/>
          <a:p>
            <a:pPr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PRESENTED </a:t>
            </a:r>
            <a:r>
              <a:rPr lang="en-US" altLang="en-US" dirty="0" smtClean="0">
                <a:latin typeface="Times New Roman" panose="02020603050405020304" pitchFamily="18" charset="0"/>
                <a:cs typeface="Times New Roman" panose="02020603050405020304" pitchFamily="18" charset="0"/>
              </a:rPr>
              <a:t>BY:</a:t>
            </a:r>
            <a:endParaRPr lang="en-US" altLang="en-US" dirty="0">
              <a:latin typeface="Times New Roman" panose="02020603050405020304" pitchFamily="18" charset="0"/>
              <a:cs typeface="Times New Roman" panose="02020603050405020304" pitchFamily="18" charset="0"/>
            </a:endParaRPr>
          </a:p>
          <a:p>
            <a:pPr>
              <a:defRPr/>
            </a:pPr>
            <a:r>
              <a:rPr lang="en-IN" dirty="0">
                <a:latin typeface="Times New Roman" panose="02020603050405020304" pitchFamily="18" charset="0"/>
                <a:cs typeface="Times New Roman" panose="02020603050405020304" pitchFamily="18" charset="0"/>
              </a:rPr>
              <a:t>Mokshitha </a:t>
            </a:r>
            <a:r>
              <a:rPr lang="en-IN" dirty="0" smtClean="0">
                <a:latin typeface="Times New Roman" panose="02020603050405020304" pitchFamily="18" charset="0"/>
                <a:cs typeface="Times New Roman" panose="02020603050405020304" pitchFamily="18" charset="0"/>
              </a:rPr>
              <a:t>Kilari(192525413)</a:t>
            </a:r>
            <a:endParaRPr lang="en-IN" dirty="0">
              <a:latin typeface="Times New Roman" panose="02020603050405020304" pitchFamily="18" charset="0"/>
              <a:cs typeface="Times New Roman" panose="02020603050405020304" pitchFamily="18" charset="0"/>
            </a:endParaRPr>
          </a:p>
          <a:p>
            <a:pPr>
              <a:defRPr/>
            </a:pPr>
            <a:r>
              <a:rPr lang="en-IN" dirty="0" err="1" smtClean="0">
                <a:latin typeface="Times New Roman" panose="02020603050405020304" pitchFamily="18" charset="0"/>
                <a:cs typeface="Times New Roman" panose="02020603050405020304" pitchFamily="18" charset="0"/>
              </a:rPr>
              <a:t>Tharlika</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K(192572077) </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DED32BB-3733-F70E-7170-D8A10DE0ABED}"/>
              </a:ext>
            </a:extLst>
          </p:cNvPr>
          <p:cNvSpPr txBox="1"/>
          <p:nvPr/>
        </p:nvSpPr>
        <p:spPr>
          <a:xfrm>
            <a:off x="972273" y="5081286"/>
            <a:ext cx="3588152"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GUIDED BY:</a:t>
            </a:r>
          </a:p>
          <a:p>
            <a:r>
              <a:rPr lang="en-IN" dirty="0" err="1">
                <a:latin typeface="Times New Roman" panose="02020603050405020304" pitchFamily="18" charset="0"/>
                <a:cs typeface="Times New Roman" panose="02020603050405020304" pitchFamily="18" charset="0"/>
              </a:rPr>
              <a:t>Dr.K.Kiruthika</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Abstract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Existing hospital queue systems often lead to long waiting times, manual errors, and inefficient patient management. Many automated systems are costly and require complex infrastructure. The proposed </a:t>
            </a:r>
            <a:r>
              <a:rPr lang="en-US" b="1" dirty="0">
                <a:latin typeface="Times New Roman" panose="02020603050405020304" pitchFamily="18" charset="0"/>
                <a:cs typeface="Times New Roman" panose="02020603050405020304" pitchFamily="18" charset="0"/>
              </a:rPr>
              <a:t>Hospital Patient Queue Management System</a:t>
            </a:r>
            <a:r>
              <a:rPr lang="en-US" dirty="0">
                <a:latin typeface="Times New Roman" panose="02020603050405020304" pitchFamily="18" charset="0"/>
                <a:cs typeface="Times New Roman" panose="02020603050405020304" pitchFamily="18" charset="0"/>
              </a:rPr>
              <a:t> uses the </a:t>
            </a:r>
            <a:r>
              <a:rPr lang="en-US" b="1" dirty="0">
                <a:latin typeface="Times New Roman" panose="02020603050405020304" pitchFamily="18" charset="0"/>
                <a:cs typeface="Times New Roman" panose="02020603050405020304" pitchFamily="18" charset="0"/>
              </a:rPr>
              <a:t>FIFO Queue</a:t>
            </a:r>
            <a:r>
              <a:rPr lang="en-US" dirty="0">
                <a:latin typeface="Times New Roman" panose="02020603050405020304" pitchFamily="18" charset="0"/>
                <a:cs typeface="Times New Roman" panose="02020603050405020304" pitchFamily="18" charset="0"/>
              </a:rPr>
              <a:t> data structure to register patients, generate tokens, and manage queues efficiently. It provides a simple, fair, and cost-effective solution that improves patient flow, reduces waiting time, and enhances hospital service quality.</a:t>
            </a:r>
            <a:endParaRPr lang="en-US" dirty="0">
              <a:latin typeface="Times New Roman" panose="02020603050405020304" pitchFamily="18" charset="0"/>
              <a:cs typeface="Times New Roman" panose="02020603050405020304" pitchFamily="18" charset="0"/>
            </a:endParaRP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715826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itchFamily="18" charset="0"/>
              </a:rPr>
              <a:t>Literature </a:t>
            </a:r>
            <a:r>
              <a:rPr lang="en-IN" b="1" dirty="0" smtClean="0">
                <a:latin typeface="Times New Roman" panose="02020603050405020304" pitchFamily="18" charset="0"/>
                <a:cs typeface="Times New Roman" pitchFamily="18" charset="0"/>
              </a:rPr>
              <a:t>Review</a:t>
            </a:r>
            <a:endParaRPr lang="en-US"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24408151"/>
              </p:ext>
            </p:extLst>
          </p:nvPr>
        </p:nvGraphicFramePr>
        <p:xfrm>
          <a:off x="668015" y="2211978"/>
          <a:ext cx="10685785" cy="3596638"/>
        </p:xfrm>
        <a:graphic>
          <a:graphicData uri="http://schemas.openxmlformats.org/drawingml/2006/table">
            <a:tbl>
              <a:tblPr>
                <a:tableStyleId>{5C22544A-7EE6-4342-B048-85BDC9FD1C3A}</a:tableStyleId>
              </a:tblPr>
              <a:tblGrid>
                <a:gridCol w="925403">
                  <a:extLst>
                    <a:ext uri="{9D8B030D-6E8A-4147-A177-3AD203B41FA5}">
                      <a16:colId xmlns:a16="http://schemas.microsoft.com/office/drawing/2014/main" val="1115027549"/>
                    </a:ext>
                  </a:extLst>
                </a:gridCol>
                <a:gridCol w="1868266">
                  <a:extLst>
                    <a:ext uri="{9D8B030D-6E8A-4147-A177-3AD203B41FA5}">
                      <a16:colId xmlns:a16="http://schemas.microsoft.com/office/drawing/2014/main" val="1918792100"/>
                    </a:ext>
                  </a:extLst>
                </a:gridCol>
                <a:gridCol w="2688907">
                  <a:extLst>
                    <a:ext uri="{9D8B030D-6E8A-4147-A177-3AD203B41FA5}">
                      <a16:colId xmlns:a16="http://schemas.microsoft.com/office/drawing/2014/main" val="3765373232"/>
                    </a:ext>
                  </a:extLst>
                </a:gridCol>
                <a:gridCol w="3020655">
                  <a:extLst>
                    <a:ext uri="{9D8B030D-6E8A-4147-A177-3AD203B41FA5}">
                      <a16:colId xmlns:a16="http://schemas.microsoft.com/office/drawing/2014/main" val="2320043634"/>
                    </a:ext>
                  </a:extLst>
                </a:gridCol>
                <a:gridCol w="2182554">
                  <a:extLst>
                    <a:ext uri="{9D8B030D-6E8A-4147-A177-3AD203B41FA5}">
                      <a16:colId xmlns:a16="http://schemas.microsoft.com/office/drawing/2014/main" val="1130292385"/>
                    </a:ext>
                  </a:extLst>
                </a:gridCol>
              </a:tblGrid>
              <a:tr h="513806">
                <a:tc>
                  <a:txBody>
                    <a:bodyPr/>
                    <a:lstStyle/>
                    <a:p>
                      <a:pPr algn="ctr" fontAlgn="ctr"/>
                      <a:r>
                        <a:rPr lang="en-US" sz="1200" u="none" strike="noStrike">
                          <a:effectLst/>
                        </a:rPr>
                        <a:t>S.No</a:t>
                      </a:r>
                      <a:endParaRPr lang="en-US" sz="1200" b="1" i="0" u="none" strike="noStrike">
                        <a:solidFill>
                          <a:srgbClr val="FFFFFF"/>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Title of the Paper</a:t>
                      </a:r>
                      <a:endParaRPr lang="en-US" sz="1200" b="1" i="0" u="none" strike="noStrike">
                        <a:solidFill>
                          <a:srgbClr val="FFFFFF"/>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Publisher &amp; Published Year</a:t>
                      </a:r>
                      <a:endParaRPr lang="en-US" sz="1200" b="1" i="0" u="none" strike="noStrike">
                        <a:solidFill>
                          <a:srgbClr val="FFFFFF"/>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Components / Techniques Used</a:t>
                      </a:r>
                      <a:endParaRPr lang="en-US" sz="1200" b="1" i="0" u="none" strike="noStrike">
                        <a:solidFill>
                          <a:srgbClr val="FFFFFF"/>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Disadvantages</a:t>
                      </a:r>
                      <a:endParaRPr lang="en-US" sz="1200" b="1" i="0" u="none" strike="noStrike">
                        <a:solidFill>
                          <a:srgbClr val="FFFFFF"/>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1090514496"/>
                  </a:ext>
                </a:extLst>
              </a:tr>
              <a:tr h="770708">
                <a:tc>
                  <a:txBody>
                    <a:bodyPr/>
                    <a:lstStyle/>
                    <a:p>
                      <a:pPr algn="ctr" fontAlgn="ctr"/>
                      <a:r>
                        <a:rPr lang="en-US" sz="1200" u="none" strike="noStrike">
                          <a:effectLst/>
                        </a:rPr>
                        <a:t>1</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Smart Hospital Queue Management</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IEEE, 2024</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Queue Scheduling</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High implementation cost and requires regular maintenance.</a:t>
                      </a:r>
                      <a:endParaRPr lang="en-US" sz="1200" b="0" i="0" u="none" strike="noStrike">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2971858029"/>
                  </a:ext>
                </a:extLst>
              </a:tr>
              <a:tr h="770708">
                <a:tc>
                  <a:txBody>
                    <a:bodyPr/>
                    <a:lstStyle/>
                    <a:p>
                      <a:pPr algn="ctr" fontAlgn="ctr"/>
                      <a:r>
                        <a:rPr lang="en-US" sz="1200" u="none" strike="noStrike">
                          <a:effectLst/>
                        </a:rPr>
                        <a:t>2</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Digital Patient Registration System</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Springer, 2023</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FIFO Queue, Database</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Depends on database connectivity and has limited scalability.</a:t>
                      </a:r>
                      <a:endParaRPr lang="en-US" sz="1200" b="0" i="0" u="none" strike="noStrike">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1730657888"/>
                  </a:ext>
                </a:extLst>
              </a:tr>
              <a:tr h="770708">
                <a:tc>
                  <a:txBody>
                    <a:bodyPr/>
                    <a:lstStyle/>
                    <a:p>
                      <a:pPr algn="ctr" fontAlgn="ctr"/>
                      <a:r>
                        <a:rPr lang="en-US" sz="1200" u="none" strike="noStrike">
                          <a:effectLst/>
                        </a:rPr>
                        <a:t>3</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Hospital Queue Optimization Using Data Structures</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Elsevier, 2022</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Queue (FIFO), Linked List</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Performance decreases with a large number of patients.</a:t>
                      </a:r>
                      <a:endParaRPr lang="en-US" sz="1200" b="0" i="0" u="none" strike="noStrike">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2148195884"/>
                  </a:ext>
                </a:extLst>
              </a:tr>
              <a:tr h="770708">
                <a:tc>
                  <a:txBody>
                    <a:bodyPr/>
                    <a:lstStyle/>
                    <a:p>
                      <a:pPr algn="ctr" fontAlgn="ctr"/>
                      <a:r>
                        <a:rPr lang="en-US" sz="1200" u="none" strike="noStrike">
                          <a:effectLst/>
                        </a:rPr>
                        <a:t>4</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Automated Healthcare Queue Management System</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IEEE, 2021</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a:effectLst/>
                        </a:rPr>
                        <a:t>Patient Registration, Token Generation, Queue Management</a:t>
                      </a:r>
                      <a:endParaRPr lang="en-US" sz="1200" b="0"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200" u="none" strike="noStrike" dirty="0">
                          <a:effectLst/>
                        </a:rPr>
                        <a:t>Requires trained staff and reliable system infrastructure.</a:t>
                      </a:r>
                      <a:endParaRPr lang="en-US" sz="1200" b="0" i="0" u="none" strike="noStrike" dirty="0">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1385875105"/>
                  </a:ext>
                </a:extLst>
              </a:tr>
            </a:tbl>
          </a:graphicData>
        </a:graphic>
      </p:graphicFrame>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1759076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Problem </a:t>
            </a:r>
            <a:r>
              <a:rPr lang="en-IN" b="1" dirty="0" smtClean="0">
                <a:latin typeface="Times New Roman" pitchFamily="18" charset="0"/>
                <a:cs typeface="Times New Roman" pitchFamily="18" charset="0"/>
              </a:rPr>
              <a:t>Statement</a:t>
            </a:r>
            <a:endParaRPr lang="en-US" b="1" dirty="0"/>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Existing hospital queue management systems face several limitations, including high implementation costs, dependence on database connectivity, limited scalability, reduced performance during peak hours, and the need for trained staff. These issues increase patient waiting time, reduce operational efficiency, and make queue management difficult.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simple and efficient </a:t>
            </a:r>
            <a:r>
              <a:rPr lang="en-US" b="1" dirty="0">
                <a:latin typeface="Times New Roman" panose="02020603050405020304" pitchFamily="18" charset="0"/>
                <a:cs typeface="Times New Roman" panose="02020603050405020304" pitchFamily="18" charset="0"/>
              </a:rPr>
              <a:t>Hospital Patient Queue Management System</a:t>
            </a:r>
            <a:r>
              <a:rPr lang="en-US" dirty="0">
                <a:latin typeface="Times New Roman" panose="02020603050405020304" pitchFamily="18" charset="0"/>
                <a:cs typeface="Times New Roman" panose="02020603050405020304" pitchFamily="18" charset="0"/>
              </a:rPr>
              <a:t> using the </a:t>
            </a:r>
            <a:r>
              <a:rPr lang="en-US" b="1" dirty="0">
                <a:latin typeface="Times New Roman" panose="02020603050405020304" pitchFamily="18" charset="0"/>
                <a:cs typeface="Times New Roman" panose="02020603050405020304" pitchFamily="18" charset="0"/>
              </a:rPr>
              <a:t>FIFO Queue</a:t>
            </a:r>
            <a:r>
              <a:rPr lang="en-US" dirty="0">
                <a:latin typeface="Times New Roman" panose="02020603050405020304" pitchFamily="18" charset="0"/>
                <a:cs typeface="Times New Roman" panose="02020603050405020304" pitchFamily="18" charset="0"/>
              </a:rPr>
              <a:t> is proposed to improve patient flow and reduce waiting time. </a:t>
            </a: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2597562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Objectives</a:t>
            </a:r>
            <a:endParaRPr lang="en-US" b="1"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Develop a computerized queue management application.</a:t>
            </a:r>
          </a:p>
          <a:p>
            <a:r>
              <a:rPr lang="en-US" dirty="0">
                <a:latin typeface="Times New Roman" panose="02020603050405020304" pitchFamily="18" charset="0"/>
                <a:cs typeface="Times New Roman" panose="02020603050405020304" pitchFamily="18" charset="0"/>
              </a:rPr>
              <a:t>Register patients quickly.</a:t>
            </a:r>
          </a:p>
          <a:p>
            <a:r>
              <a:rPr lang="en-US" dirty="0">
                <a:latin typeface="Times New Roman" panose="02020603050405020304" pitchFamily="18" charset="0"/>
                <a:cs typeface="Times New Roman" panose="02020603050405020304" pitchFamily="18" charset="0"/>
              </a:rPr>
              <a:t>Assign automatic token numbers.</a:t>
            </a:r>
          </a:p>
          <a:p>
            <a:r>
              <a:rPr lang="en-US" dirty="0">
                <a:latin typeface="Times New Roman" panose="02020603050405020304" pitchFamily="18" charset="0"/>
                <a:cs typeface="Times New Roman" panose="02020603050405020304" pitchFamily="18" charset="0"/>
              </a:rPr>
              <a:t>Maintain patient order using FIFO.</a:t>
            </a:r>
          </a:p>
          <a:p>
            <a:r>
              <a:rPr lang="en-US" dirty="0">
                <a:latin typeface="Times New Roman" panose="02020603050405020304" pitchFamily="18" charset="0"/>
                <a:cs typeface="Times New Roman" panose="02020603050405020304" pitchFamily="18" charset="0"/>
              </a:rPr>
              <a:t>Display and serve patients efficiently.</a:t>
            </a:r>
          </a:p>
          <a:p>
            <a:r>
              <a:rPr lang="en-US" dirty="0">
                <a:latin typeface="Times New Roman" panose="02020603050405020304" pitchFamily="18" charset="0"/>
                <a:cs typeface="Times New Roman" panose="02020603050405020304" pitchFamily="18" charset="0"/>
              </a:rPr>
              <a:t>Improve hospital service quality.</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1093510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pic>
        <p:nvPicPr>
          <p:cNvPr id="6" name="Content Placeholder 7">
            <a:extLst>
              <a:ext uri="{FF2B5EF4-FFF2-40B4-BE49-F238E27FC236}">
                <a16:creationId xmlns:a16="http://schemas.microsoft.com/office/drawing/2014/main" id="{EA51D432-67EA-4D32-9B42-C6AF88465611}"/>
              </a:ext>
            </a:extLst>
          </p:cNvPr>
          <p:cNvPicPr>
            <a:picLocks noGrp="1" noChangeAspect="1"/>
          </p:cNvPicPr>
          <p:nvPr>
            <p:ph idx="1"/>
          </p:nvPr>
        </p:nvPicPr>
        <p:blipFill>
          <a:blip r:embed="rId4"/>
          <a:stretch>
            <a:fillRect/>
          </a:stretch>
        </p:blipFill>
        <p:spPr>
          <a:xfrm>
            <a:off x="2987040" y="1271451"/>
            <a:ext cx="4559406" cy="4905512"/>
          </a:xfrm>
          <a:prstGeom prst="rect">
            <a:avLst/>
          </a:prstGeom>
        </p:spPr>
      </p:pic>
    </p:spTree>
    <p:extLst>
      <p:ext uri="{BB962C8B-B14F-4D97-AF65-F5344CB8AC3E}">
        <p14:creationId xmlns:p14="http://schemas.microsoft.com/office/powerpoint/2010/main" val="4169092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Methodology</a:t>
            </a:r>
            <a:endParaRPr lang="en-US" b="1"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Register patient details.</a:t>
            </a:r>
          </a:p>
          <a:p>
            <a:r>
              <a:rPr lang="en-US" dirty="0">
                <a:latin typeface="Times New Roman" panose="02020603050405020304" pitchFamily="18" charset="0"/>
                <a:cs typeface="Times New Roman" panose="02020603050405020304" pitchFamily="18" charset="0"/>
              </a:rPr>
              <a:t>Generate a unique token.</a:t>
            </a:r>
          </a:p>
          <a:p>
            <a:r>
              <a:rPr lang="en-US" dirty="0">
                <a:latin typeface="Times New Roman" panose="02020603050405020304" pitchFamily="18" charset="0"/>
                <a:cs typeface="Times New Roman" panose="02020603050405020304" pitchFamily="18" charset="0"/>
              </a:rPr>
              <a:t>Insert patient into the queue.</a:t>
            </a:r>
          </a:p>
          <a:p>
            <a:r>
              <a:rPr lang="en-US" dirty="0">
                <a:latin typeface="Times New Roman" panose="02020603050405020304" pitchFamily="18" charset="0"/>
                <a:cs typeface="Times New Roman" panose="02020603050405020304" pitchFamily="18" charset="0"/>
              </a:rPr>
              <a:t>Display waiting patients.</a:t>
            </a:r>
          </a:p>
          <a:p>
            <a:r>
              <a:rPr lang="en-US" dirty="0">
                <a:latin typeface="Times New Roman" panose="02020603050405020304" pitchFamily="18" charset="0"/>
                <a:cs typeface="Times New Roman" panose="02020603050405020304" pitchFamily="18" charset="0"/>
              </a:rPr>
              <a:t>Call the first patient.</a:t>
            </a:r>
          </a:p>
          <a:p>
            <a:r>
              <a:rPr lang="en-US" dirty="0">
                <a:latin typeface="Times New Roman" panose="02020603050405020304" pitchFamily="18" charset="0"/>
                <a:cs typeface="Times New Roman" panose="02020603050405020304" pitchFamily="18" charset="0"/>
              </a:rPr>
              <a:t>Remove the served patient.</a:t>
            </a:r>
          </a:p>
          <a:p>
            <a:r>
              <a:rPr lang="en-US" dirty="0">
                <a:latin typeface="Times New Roman" panose="02020603050405020304" pitchFamily="18" charset="0"/>
                <a:cs typeface="Times New Roman" panose="02020603050405020304" pitchFamily="18" charset="0"/>
              </a:rPr>
              <a:t>Continue until the queue becomes empty.</a:t>
            </a: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277582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 1: Patient Registration</a:t>
            </a:r>
            <a:endParaRPr lang="en-US" b="1" dirty="0"/>
          </a:p>
        </p:txBody>
      </p:sp>
      <p:sp>
        <p:nvSpPr>
          <p:cNvPr id="3" name="Content Placeholder 2"/>
          <p:cNvSpPr>
            <a:spLocks noGrp="1"/>
          </p:cNvSpPr>
          <p:nvPr>
            <p:ph idx="1"/>
          </p:nvPr>
        </p:nvSpPr>
        <p:spPr>
          <a:xfrm>
            <a:off x="654135" y="1573077"/>
            <a:ext cx="10515600" cy="5054146"/>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Purpose</a:t>
            </a:r>
          </a:p>
          <a:p>
            <a:r>
              <a:rPr lang="en-US" dirty="0">
                <a:latin typeface="Times New Roman" panose="02020603050405020304" pitchFamily="18" charset="0"/>
                <a:cs typeface="Times New Roman" panose="02020603050405020304" pitchFamily="18" charset="0"/>
              </a:rPr>
              <a:t>Collect patient information and add them to the queue.</a:t>
            </a:r>
          </a:p>
          <a:p>
            <a:pPr marL="0" indent="0">
              <a:buNone/>
            </a:pPr>
            <a:r>
              <a:rPr lang="en-US" b="1" dirty="0">
                <a:latin typeface="Times New Roman" panose="02020603050405020304" pitchFamily="18" charset="0"/>
                <a:cs typeface="Times New Roman" panose="02020603050405020304" pitchFamily="18" charset="0"/>
              </a:rPr>
              <a:t>Features</a:t>
            </a:r>
          </a:p>
          <a:p>
            <a:r>
              <a:rPr lang="en-US" dirty="0">
                <a:latin typeface="Times New Roman" panose="02020603050405020304" pitchFamily="18" charset="0"/>
                <a:cs typeface="Times New Roman" panose="02020603050405020304" pitchFamily="18" charset="0"/>
              </a:rPr>
              <a:t>Enter patient name</a:t>
            </a:r>
          </a:p>
          <a:p>
            <a:r>
              <a:rPr lang="en-US" dirty="0">
                <a:latin typeface="Times New Roman" panose="02020603050405020304" pitchFamily="18" charset="0"/>
                <a:cs typeface="Times New Roman" panose="02020603050405020304" pitchFamily="18" charset="0"/>
              </a:rPr>
              <a:t>Enter age and gender</a:t>
            </a:r>
          </a:p>
          <a:p>
            <a:r>
              <a:rPr lang="en-US" dirty="0">
                <a:latin typeface="Times New Roman" panose="02020603050405020304" pitchFamily="18" charset="0"/>
                <a:cs typeface="Times New Roman" panose="02020603050405020304" pitchFamily="18" charset="0"/>
              </a:rPr>
              <a:t>Generate token automatically</a:t>
            </a:r>
          </a:p>
          <a:p>
            <a:r>
              <a:rPr lang="en-US" dirty="0">
                <a:latin typeface="Times New Roman" panose="02020603050405020304" pitchFamily="18" charset="0"/>
                <a:cs typeface="Times New Roman" panose="02020603050405020304" pitchFamily="18" charset="0"/>
              </a:rPr>
              <a:t>Save patient information</a:t>
            </a:r>
          </a:p>
          <a:p>
            <a:r>
              <a:rPr lang="en-US" dirty="0">
                <a:latin typeface="Times New Roman" panose="02020603050405020304" pitchFamily="18" charset="0"/>
                <a:cs typeface="Times New Roman" panose="02020603050405020304" pitchFamily="18" charset="0"/>
              </a:rPr>
              <a:t>Add patient to FIFO queue</a:t>
            </a:r>
          </a:p>
          <a:p>
            <a:pPr marL="0" indent="0">
              <a:buNone/>
            </a:pPr>
            <a:r>
              <a:rPr lang="en-US" b="1" dirty="0">
                <a:latin typeface="Times New Roman" panose="02020603050405020304" pitchFamily="18" charset="0"/>
                <a:cs typeface="Times New Roman" panose="02020603050405020304" pitchFamily="18" charset="0"/>
              </a:rPr>
              <a:t>Data Structure</a:t>
            </a:r>
          </a:p>
          <a:p>
            <a:r>
              <a:rPr lang="en-US" dirty="0">
                <a:latin typeface="Times New Roman" panose="02020603050405020304" pitchFamily="18" charset="0"/>
                <a:cs typeface="Times New Roman" panose="02020603050405020304" pitchFamily="18" charset="0"/>
              </a:rPr>
              <a:t>Queue (FIFO)</a:t>
            </a: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377232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Module 2 – Queue Processing</a:t>
            </a:r>
          </a:p>
        </p:txBody>
      </p:sp>
      <p:sp>
        <p:nvSpPr>
          <p:cNvPr id="3" name="Content Placeholder 2"/>
          <p:cNvSpPr>
            <a:spLocks noGrp="1"/>
          </p:cNvSpPr>
          <p:nvPr>
            <p:ph idx="1"/>
          </p:nvPr>
        </p:nvSpPr>
        <p:spPr>
          <a:xfrm>
            <a:off x="724989" y="1581784"/>
            <a:ext cx="10515600" cy="4792889"/>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Purpose</a:t>
            </a:r>
          </a:p>
          <a:p>
            <a:r>
              <a:rPr lang="en-US" dirty="0">
                <a:latin typeface="Times New Roman" panose="02020603050405020304" pitchFamily="18" charset="0"/>
                <a:cs typeface="Times New Roman" panose="02020603050405020304" pitchFamily="18" charset="0"/>
              </a:rPr>
              <a:t>Manage patient flow in the correct </a:t>
            </a:r>
            <a:r>
              <a:rPr lang="en-US" dirty="0" smtClean="0">
                <a:latin typeface="Times New Roman" panose="02020603050405020304" pitchFamily="18" charset="0"/>
                <a:cs typeface="Times New Roman" panose="02020603050405020304" pitchFamily="18" charset="0"/>
              </a:rPr>
              <a:t>order.</a:t>
            </a:r>
          </a:p>
          <a:p>
            <a:pPr marL="0" indent="0">
              <a:buNone/>
            </a:pPr>
            <a:r>
              <a:rPr lang="en-US" b="1" dirty="0" smtClean="0">
                <a:latin typeface="Times New Roman" panose="02020603050405020304" pitchFamily="18" charset="0"/>
                <a:cs typeface="Times New Roman" panose="02020603050405020304" pitchFamily="18" charset="0"/>
              </a:rPr>
              <a:t>Features</a:t>
            </a:r>
          </a:p>
          <a:p>
            <a:r>
              <a:rPr lang="en-US" dirty="0" smtClean="0">
                <a:latin typeface="Times New Roman" panose="02020603050405020304" pitchFamily="18" charset="0"/>
                <a:cs typeface="Times New Roman" panose="02020603050405020304" pitchFamily="18" charset="0"/>
              </a:rPr>
              <a:t>View </a:t>
            </a:r>
            <a:r>
              <a:rPr lang="en-US" dirty="0">
                <a:latin typeface="Times New Roman" panose="02020603050405020304" pitchFamily="18" charset="0"/>
                <a:cs typeface="Times New Roman" panose="02020603050405020304" pitchFamily="18" charset="0"/>
              </a:rPr>
              <a:t>current queue</a:t>
            </a:r>
          </a:p>
          <a:p>
            <a:r>
              <a:rPr lang="en-US" dirty="0">
                <a:latin typeface="Times New Roman" panose="02020603050405020304" pitchFamily="18" charset="0"/>
                <a:cs typeface="Times New Roman" panose="02020603050405020304" pitchFamily="18" charset="0"/>
              </a:rPr>
              <a:t>Call next patient</a:t>
            </a:r>
          </a:p>
          <a:p>
            <a:r>
              <a:rPr lang="en-US" dirty="0">
                <a:latin typeface="Times New Roman" panose="02020603050405020304" pitchFamily="18" charset="0"/>
                <a:cs typeface="Times New Roman" panose="02020603050405020304" pitchFamily="18" charset="0"/>
              </a:rPr>
              <a:t>Remove served patient</a:t>
            </a:r>
          </a:p>
          <a:p>
            <a:r>
              <a:rPr lang="en-US" dirty="0">
                <a:latin typeface="Times New Roman" panose="02020603050405020304" pitchFamily="18" charset="0"/>
                <a:cs typeface="Times New Roman" panose="02020603050405020304" pitchFamily="18" charset="0"/>
              </a:rPr>
              <a:t>Update queue automatically</a:t>
            </a:r>
          </a:p>
          <a:p>
            <a:r>
              <a:rPr lang="en-US" dirty="0">
                <a:latin typeface="Times New Roman" panose="02020603050405020304" pitchFamily="18" charset="0"/>
                <a:cs typeface="Times New Roman" panose="02020603050405020304" pitchFamily="18" charset="0"/>
              </a:rPr>
              <a:t>Display remaining patients</a:t>
            </a:r>
          </a:p>
          <a:p>
            <a:pPr marL="0" indent="0">
              <a:buNone/>
            </a:pPr>
            <a:r>
              <a:rPr lang="en-US" b="1" dirty="0">
                <a:latin typeface="Times New Roman" panose="02020603050405020304" pitchFamily="18" charset="0"/>
                <a:cs typeface="Times New Roman" panose="02020603050405020304" pitchFamily="18" charset="0"/>
              </a:rPr>
              <a:t>Data Structure</a:t>
            </a:r>
          </a:p>
          <a:p>
            <a:r>
              <a:rPr lang="en-US" dirty="0">
                <a:latin typeface="Times New Roman" panose="02020603050405020304" pitchFamily="18" charset="0"/>
                <a:cs typeface="Times New Roman" panose="02020603050405020304" pitchFamily="18" charset="0"/>
              </a:rPr>
              <a:t>Queue using Array / Linked List</a:t>
            </a:r>
          </a:p>
          <a:p>
            <a:pPr marL="0" indent="0">
              <a:buNone/>
            </a:pP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3869068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1817" y="798013"/>
            <a:ext cx="10985494" cy="5724707"/>
          </a:xfrm>
        </p:spPr>
        <p:txBody>
          <a:bodyPr>
            <a:normAutofit fontScale="85000" lnSpcReduction="20000"/>
          </a:bodyPr>
          <a:lstStyle/>
          <a:p>
            <a:pPr marL="0" indent="0" algn="just">
              <a:buNone/>
            </a:pPr>
            <a:r>
              <a:rPr lang="en-US" b="1" dirty="0">
                <a:latin typeface="Times New Roman" panose="02020603050405020304" pitchFamily="18" charset="0"/>
                <a:cs typeface="Times New Roman" panose="02020603050405020304" pitchFamily="18" charset="0"/>
              </a:rPr>
              <a:t>Advantages</a:t>
            </a:r>
          </a:p>
          <a:p>
            <a:pPr algn="just"/>
            <a:r>
              <a:rPr lang="en-US" dirty="0">
                <a:latin typeface="Times New Roman" panose="02020603050405020304" pitchFamily="18" charset="0"/>
                <a:cs typeface="Times New Roman" panose="02020603050405020304" pitchFamily="18" charset="0"/>
              </a:rPr>
              <a:t>Reduces patient waiting time.</a:t>
            </a:r>
          </a:p>
          <a:p>
            <a:pPr algn="just"/>
            <a:r>
              <a:rPr lang="en-US" dirty="0">
                <a:latin typeface="Times New Roman" panose="02020603050405020304" pitchFamily="18" charset="0"/>
                <a:cs typeface="Times New Roman" panose="02020603050405020304" pitchFamily="18" charset="0"/>
              </a:rPr>
              <a:t>Ensures fair service using the FIFO principle.</a:t>
            </a:r>
          </a:p>
          <a:p>
            <a:pPr algn="just"/>
            <a:r>
              <a:rPr lang="en-US" dirty="0">
                <a:latin typeface="Times New Roman" panose="02020603050405020304" pitchFamily="18" charset="0"/>
                <a:cs typeface="Times New Roman" panose="02020603050405020304" pitchFamily="18" charset="0"/>
              </a:rPr>
              <a:t>Eliminates manual queue management errors.</a:t>
            </a:r>
          </a:p>
          <a:p>
            <a:pPr algn="just"/>
            <a:r>
              <a:rPr lang="en-US" dirty="0">
                <a:latin typeface="Times New Roman" panose="02020603050405020304" pitchFamily="18" charset="0"/>
                <a:cs typeface="Times New Roman" panose="02020603050405020304" pitchFamily="18" charset="0"/>
              </a:rPr>
              <a:t>Improves hospital workflow and efficiency.</a:t>
            </a:r>
          </a:p>
          <a:p>
            <a:pPr algn="just"/>
            <a:r>
              <a:rPr lang="en-US" dirty="0">
                <a:latin typeface="Times New Roman" panose="02020603050405020304" pitchFamily="18" charset="0"/>
                <a:cs typeface="Times New Roman" panose="02020603050405020304" pitchFamily="18" charset="0"/>
              </a:rPr>
              <a:t>Automatically generates unique token numbers.</a:t>
            </a:r>
          </a:p>
          <a:p>
            <a:pPr algn="just"/>
            <a:r>
              <a:rPr lang="en-US" dirty="0">
                <a:latin typeface="Times New Roman" panose="02020603050405020304" pitchFamily="18" charset="0"/>
                <a:cs typeface="Times New Roman" panose="02020603050405020304" pitchFamily="18" charset="0"/>
              </a:rPr>
              <a:t>Easy to implement and maintain.</a:t>
            </a:r>
          </a:p>
          <a:p>
            <a:pPr marL="0" indent="0" algn="just">
              <a:buNone/>
            </a:pPr>
            <a:r>
              <a:rPr lang="en-US" b="1" dirty="0">
                <a:latin typeface="Times New Roman" panose="02020603050405020304" pitchFamily="18" charset="0"/>
                <a:cs typeface="Times New Roman" panose="02020603050405020304" pitchFamily="18" charset="0"/>
              </a:rPr>
              <a:t>Disadvantages</a:t>
            </a:r>
          </a:p>
          <a:p>
            <a:pPr algn="just"/>
            <a:r>
              <a:rPr lang="en-US" dirty="0">
                <a:latin typeface="Times New Roman" panose="02020603050405020304" pitchFamily="18" charset="0"/>
                <a:cs typeface="Times New Roman" panose="02020603050405020304" pitchFamily="18" charset="0"/>
              </a:rPr>
              <a:t>Cannot prioritize emergency patients in a basic FIFO system.</a:t>
            </a:r>
          </a:p>
          <a:p>
            <a:pPr algn="just"/>
            <a:r>
              <a:rPr lang="en-US" dirty="0">
                <a:latin typeface="Times New Roman" panose="02020603050405020304" pitchFamily="18" charset="0"/>
                <a:cs typeface="Times New Roman" panose="02020603050405020304" pitchFamily="18" charset="0"/>
              </a:rPr>
              <a:t>Queue operations stop if the system fails.</a:t>
            </a:r>
          </a:p>
          <a:p>
            <a:pPr algn="just"/>
            <a:r>
              <a:rPr lang="en-US" dirty="0">
                <a:latin typeface="Times New Roman" panose="02020603050405020304" pitchFamily="18" charset="0"/>
                <a:cs typeface="Times New Roman" panose="02020603050405020304" pitchFamily="18" charset="0"/>
              </a:rPr>
              <a:t>Limited functionality without database integration.</a:t>
            </a:r>
          </a:p>
          <a:p>
            <a:pPr algn="just"/>
            <a:r>
              <a:rPr lang="en-US" dirty="0">
                <a:latin typeface="Times New Roman" panose="02020603050405020304" pitchFamily="18" charset="0"/>
                <a:cs typeface="Times New Roman" panose="02020603050405020304" pitchFamily="18" charset="0"/>
              </a:rPr>
              <a:t>Requires staff training for system usage.</a:t>
            </a:r>
          </a:p>
          <a:p>
            <a:pPr algn="just"/>
            <a:r>
              <a:rPr lang="en-US" dirty="0">
                <a:latin typeface="Times New Roman" panose="02020603050405020304" pitchFamily="18" charset="0"/>
                <a:cs typeface="Times New Roman" panose="02020603050405020304" pitchFamily="18" charset="0"/>
              </a:rPr>
              <a:t>Performance may decrease during very high patient traffic.</a:t>
            </a:r>
          </a:p>
          <a:p>
            <a:pPr algn="just"/>
            <a:r>
              <a:rPr lang="en-US" dirty="0">
                <a:latin typeface="Times New Roman" panose="02020603050405020304" pitchFamily="18" charset="0"/>
                <a:cs typeface="Times New Roman" panose="02020603050405020304" pitchFamily="18" charset="0"/>
              </a:rPr>
              <a:t>Needs future upgrades for online appointments and notifications.</a:t>
            </a:r>
          </a:p>
          <a:p>
            <a:pPr algn="just"/>
            <a:endParaRPr lang="en-US" dirty="0">
              <a:latin typeface="Times New Roman" panose="02020603050405020304" pitchFamily="18" charset="0"/>
              <a:cs typeface="Times New Roman" panose="02020603050405020304" pitchFamily="18" charset="0"/>
            </a:endParaRP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4116137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Future </a:t>
            </a:r>
            <a:r>
              <a:rPr lang="en-US" b="1" dirty="0" smtClean="0">
                <a:latin typeface="Times New Roman" panose="02020603050405020304" pitchFamily="18" charset="0"/>
                <a:cs typeface="Times New Roman" panose="02020603050405020304" pitchFamily="18" charset="0"/>
              </a:rPr>
              <a:t>Scope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Online appointment booking</a:t>
            </a:r>
          </a:p>
          <a:p>
            <a:r>
              <a:rPr lang="en-US" dirty="0">
                <a:latin typeface="Times New Roman" panose="02020603050405020304" pitchFamily="18" charset="0"/>
                <a:cs typeface="Times New Roman" panose="02020603050405020304" pitchFamily="18" charset="0"/>
              </a:rPr>
              <a:t>SMS notification for patients</a:t>
            </a:r>
          </a:p>
          <a:p>
            <a:r>
              <a:rPr lang="en-US" dirty="0">
                <a:latin typeface="Times New Roman" panose="02020603050405020304" pitchFamily="18" charset="0"/>
                <a:cs typeface="Times New Roman" panose="02020603050405020304" pitchFamily="18" charset="0"/>
              </a:rPr>
              <a:t>Doctor availability tracking</a:t>
            </a:r>
          </a:p>
          <a:p>
            <a:r>
              <a:rPr lang="en-US" dirty="0">
                <a:latin typeface="Times New Roman" panose="02020603050405020304" pitchFamily="18" charset="0"/>
                <a:cs typeface="Times New Roman" panose="02020603050405020304" pitchFamily="18" charset="0"/>
              </a:rPr>
              <a:t>Cloud database integration</a:t>
            </a:r>
          </a:p>
          <a:p>
            <a:r>
              <a:rPr lang="en-US" dirty="0">
                <a:latin typeface="Times New Roman" panose="02020603050405020304" pitchFamily="18" charset="0"/>
                <a:cs typeface="Times New Roman" panose="02020603050405020304" pitchFamily="18" charset="0"/>
              </a:rPr>
              <a:t>Mobile application support</a:t>
            </a:r>
          </a:p>
          <a:p>
            <a:r>
              <a:rPr lang="en-US" dirty="0">
                <a:latin typeface="Times New Roman" panose="02020603050405020304" pitchFamily="18" charset="0"/>
                <a:cs typeface="Times New Roman" panose="02020603050405020304" pitchFamily="18" charset="0"/>
              </a:rPr>
              <a:t>AI-based waiting time prediction</a:t>
            </a: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46093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FIFO provides fair patient service.</a:t>
            </a:r>
          </a:p>
          <a:p>
            <a:r>
              <a:rPr lang="en-US" dirty="0">
                <a:latin typeface="Times New Roman" panose="02020603050405020304" pitchFamily="18" charset="0"/>
                <a:cs typeface="Times New Roman" panose="02020603050405020304" pitchFamily="18" charset="0"/>
              </a:rPr>
              <a:t>Automation minimizes manual errors.</a:t>
            </a:r>
          </a:p>
          <a:p>
            <a:r>
              <a:rPr lang="en-US" dirty="0">
                <a:latin typeface="Times New Roman" panose="02020603050405020304" pitchFamily="18" charset="0"/>
                <a:cs typeface="Times New Roman" panose="02020603050405020304" pitchFamily="18" charset="0"/>
              </a:rPr>
              <a:t>Token generation simplifies patient handling.</a:t>
            </a:r>
          </a:p>
          <a:p>
            <a:r>
              <a:rPr lang="en-US" dirty="0">
                <a:latin typeface="Times New Roman" panose="02020603050405020304" pitchFamily="18" charset="0"/>
                <a:cs typeface="Times New Roman" panose="02020603050405020304" pitchFamily="18" charset="0"/>
              </a:rPr>
              <a:t>Queue operations improve hospital efficiency.</a:t>
            </a:r>
          </a:p>
          <a:p>
            <a:r>
              <a:rPr lang="en-US" dirty="0">
                <a:latin typeface="Times New Roman" panose="02020603050405020304" pitchFamily="18" charset="0"/>
                <a:cs typeface="Times New Roman" panose="02020603050405020304" pitchFamily="18" charset="0"/>
              </a:rPr>
              <a:t>The system can be enhanced with online appointments and cloud database support.</a:t>
            </a:r>
          </a:p>
        </p:txBody>
      </p:sp>
      <p:pic>
        <p:nvPicPr>
          <p:cNvPr id="4" name="object 6">
            <a:extLst>
              <a:ext uri="{FF2B5EF4-FFF2-40B4-BE49-F238E27FC236}">
                <a16:creationId xmlns:a16="http://schemas.microsoft.com/office/drawing/2014/main" id="{C151E162-82AE-EEAA-6825-16EEEDAC2FB7}"/>
              </a:ext>
            </a:extLst>
          </p:cNvPr>
          <p:cNvPicPr/>
          <p:nvPr/>
        </p:nvPicPr>
        <p:blipFill>
          <a:blip r:embed="rId2" cstate="print"/>
          <a:stretch>
            <a:fillRect/>
          </a:stretch>
        </p:blipFill>
        <p:spPr>
          <a:xfrm>
            <a:off x="263611" y="75692"/>
            <a:ext cx="781049" cy="828675"/>
          </a:xfrm>
          <a:prstGeom prst="rect">
            <a:avLst/>
          </a:prstGeom>
        </p:spPr>
      </p:pic>
      <p:pic>
        <p:nvPicPr>
          <p:cNvPr id="5" name="object 5">
            <a:extLst>
              <a:ext uri="{FF2B5EF4-FFF2-40B4-BE49-F238E27FC236}">
                <a16:creationId xmlns:a16="http://schemas.microsoft.com/office/drawing/2014/main" id="{4011271A-0632-A1E9-78C9-DCC959B77BF5}"/>
              </a:ext>
            </a:extLst>
          </p:cNvPr>
          <p:cNvPicPr/>
          <p:nvPr/>
        </p:nvPicPr>
        <p:blipFill>
          <a:blip r:embed="rId3" cstate="print"/>
          <a:stretch>
            <a:fillRect/>
          </a:stretch>
        </p:blipFill>
        <p:spPr>
          <a:xfrm>
            <a:off x="11361008" y="100406"/>
            <a:ext cx="638175" cy="828675"/>
          </a:xfrm>
          <a:prstGeom prst="rect">
            <a:avLst/>
          </a:prstGeom>
        </p:spPr>
      </p:pic>
    </p:spTree>
    <p:extLst>
      <p:ext uri="{BB962C8B-B14F-4D97-AF65-F5344CB8AC3E}">
        <p14:creationId xmlns:p14="http://schemas.microsoft.com/office/powerpoint/2010/main" val="1142439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TextBox 2"/>
          <p:cNvSpPr txBox="1"/>
          <p:nvPr/>
        </p:nvSpPr>
        <p:spPr>
          <a:xfrm>
            <a:off x="2850587" y="1905506"/>
            <a:ext cx="5888299" cy="3046988"/>
          </a:xfrm>
          <a:prstGeom prst="rect">
            <a:avLst/>
          </a:prstGeom>
          <a:noFill/>
        </p:spPr>
        <p:txBody>
          <a:bodyPr wrap="square">
            <a:spAutoFit/>
          </a:bodyPr>
          <a:lstStyle/>
          <a:p>
            <a:pPr marL="0" indent="0" algn="ctr" eaLnBrk="0" fontAlgn="base" hangingPunct="0">
              <a:lnSpc>
                <a:spcPct val="100000"/>
              </a:lnSpc>
              <a:spcBef>
                <a:spcPct val="0"/>
              </a:spcBef>
              <a:spcAft>
                <a:spcPct val="0"/>
              </a:spcAft>
            </a:pPr>
            <a:r>
              <a:rPr lang="en-US" altLang="en-US" sz="9600" dirty="0">
                <a:latin typeface="Ravie" panose="04040805050809020602" pitchFamily="82"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TotalTime>
  <Words>601</Words>
  <Application>Microsoft Office PowerPoint</Application>
  <PresentationFormat>Widescreen</PresentationFormat>
  <Paragraphs>114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Ravie</vt:lpstr>
      <vt:lpstr>Times New Roman</vt:lpstr>
      <vt:lpstr>Office 2013 - 2022 Theme</vt:lpstr>
      <vt:lpstr>PowerPoint Presentation</vt:lpstr>
      <vt:lpstr>Abstract</vt:lpstr>
      <vt:lpstr>Literature Review</vt:lpstr>
      <vt:lpstr>Problem Statement</vt:lpstr>
      <vt:lpstr>Objectives</vt:lpstr>
      <vt:lpstr>System Architecture</vt:lpstr>
      <vt:lpstr>Methodology</vt:lpstr>
      <vt:lpstr>Module 1: Patient Registration</vt:lpstr>
      <vt:lpstr>Module 2 – Queue Processing</vt:lpstr>
      <vt:lpstr>PowerPoint Presentation</vt:lpstr>
      <vt:lpstr>Future Scope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Mokshitha Kilari</dc:creator>
  <cp:lastModifiedBy>Mokshitha Kilari</cp:lastModifiedBy>
  <cp:revision>47</cp:revision>
  <dcterms:created xsi:type="dcterms:W3CDTF">2025-11-23T18:02:34Z</dcterms:created>
  <dcterms:modified xsi:type="dcterms:W3CDTF">2026-07-27T05:57:48Z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ee07abde4c954e1cb09cd3f543f3c2f4_23</vt:lpwstr>
  </property>
</Properties>
</file>